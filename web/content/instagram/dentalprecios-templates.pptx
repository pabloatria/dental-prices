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00000" y="2000000"/>
            <a:ext cx="32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00" b="1">
                <a:solidFill>
                  <a:srgbClr val="2563EB"/>
                </a:solidFill>
                <a:latin typeface="Arial"/>
              </a:defRPr>
            </a:pPr>
            <a:r>
              <a:t>DP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0" y="3800000"/>
            <a:ext cx="72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8FAFC"/>
                </a:solidFill>
                <a:latin typeface="Arial"/>
              </a:defRPr>
            </a:pPr>
            <a:r>
              <a:t>DENTALPRECIOS.CL</a:t>
            </a:r>
          </a:p>
        </p:txBody>
      </p:sp>
      <p:sp>
        <p:nvSpPr>
          <p:cNvPr id="4" name="Rectangle 3"/>
          <p:cNvSpPr/>
          <p:nvPr/>
        </p:nvSpPr>
        <p:spPr>
          <a:xfrm>
            <a:off x="3800000" y="4700000"/>
            <a:ext cx="2600000" cy="3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00000" y="5000000"/>
            <a:ext cx="7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Arial"/>
              </a:defRPr>
            </a:pPr>
            <a:r>
              <a:t>El comparador de insumos dentales de Chile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00000" y="6000000"/>
            <a:ext cx="2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8FAFC"/>
                </a:solidFill>
                <a:latin typeface="Arial"/>
              </a:defRPr>
            </a:pPr>
            <a:r>
              <a:t>🦷⚡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400000"/>
            <a:ext cx="92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563EB"/>
                </a:solidFill>
                <a:latin typeface="Arial"/>
              </a:defRPr>
            </a:pPr>
            <a:r>
              <a:t>━━━  PRICE SHOWDOWN  ━━━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0000" y="1100000"/>
            <a:ext cx="92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8FAFC"/>
                </a:solidFill>
                <a:latin typeface="Arial"/>
              </a:defRPr>
            </a:pPr>
            <a:r>
              <a:t>[NOMBRE DEL PRODUCTO]</a:t>
            </a:r>
          </a:p>
        </p:txBody>
      </p:sp>
      <p:sp>
        <p:nvSpPr>
          <p:cNvPr id="4" name="Rectangle 3"/>
          <p:cNvSpPr/>
          <p:nvPr/>
        </p:nvSpPr>
        <p:spPr>
          <a:xfrm>
            <a:off x="500000" y="2000000"/>
            <a:ext cx="9200000" cy="3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2300000"/>
            <a:ext cx="4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4A3B8"/>
                </a:solidFill>
                <a:latin typeface="Arial"/>
              </a:defRPr>
            </a:pPr>
            <a:r>
              <a:t>PROVEEDOR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00000" y="2300000"/>
            <a:ext cx="4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94A3B8"/>
                </a:solidFill>
                <a:latin typeface="Arial"/>
              </a:defRPr>
            </a:pPr>
            <a:r>
              <a:t>PRECIO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2900000"/>
            <a:ext cx="4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8FAFC"/>
                </a:solidFill>
                <a:latin typeface="Arial"/>
              </a:defRPr>
            </a:pPr>
            <a:r>
              <a:t>Techdent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00000" y="2900000"/>
            <a:ext cx="4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8FAFC"/>
                </a:solidFill>
                <a:latin typeface="Arial"/>
              </a:defRPr>
            </a:pPr>
            <a:r>
              <a:t>$XX.XXX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0000" y="3550000"/>
            <a:ext cx="4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8FAFC"/>
                </a:solidFill>
                <a:latin typeface="Arial"/>
              </a:defRPr>
            </a:pPr>
            <a:r>
              <a:t>MayorDent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00000" y="3550000"/>
            <a:ext cx="4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22C55E"/>
                </a:solidFill>
                <a:latin typeface="Arial"/>
              </a:defRPr>
            </a:pPr>
            <a:r>
              <a:t>$XX.XXX  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0000" y="4200000"/>
            <a:ext cx="4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8FAFC"/>
                </a:solidFill>
                <a:latin typeface="Arial"/>
              </a:defRPr>
            </a:pPr>
            <a:r>
              <a:t>Dentobal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00000" y="4200000"/>
            <a:ext cx="4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8FAFC"/>
                </a:solidFill>
                <a:latin typeface="Arial"/>
              </a:defRPr>
            </a:pPr>
            <a:r>
              <a:t>$XX.XXX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0000" y="4850000"/>
            <a:ext cx="4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8FAFC"/>
                </a:solidFill>
                <a:latin typeface="Arial"/>
              </a:defRPr>
            </a:pPr>
            <a:r>
              <a:t>DentalStore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00000" y="4850000"/>
            <a:ext cx="4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8FAFC"/>
                </a:solidFill>
                <a:latin typeface="Arial"/>
              </a:defRPr>
            </a:pPr>
            <a:r>
              <a:t>$XX.XXX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5600000"/>
            <a:ext cx="9200000" cy="3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000000"/>
            <a:ext cx="9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2C55E"/>
                </a:solidFill>
                <a:latin typeface="Arial"/>
              </a:defRPr>
            </a:pPr>
            <a:r>
              <a:t>MEJOR PRECIO ← arriba marcado en verde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0000" y="9200000"/>
            <a:ext cx="9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Arial"/>
              </a:defRPr>
            </a:pPr>
            <a:r>
              <a:t>dentalprecios.cl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600000"/>
            <a:ext cx="92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F4444"/>
                </a:solidFill>
                <a:latin typeface="Arial"/>
              </a:defRPr>
            </a:pPr>
            <a:r>
              <a:t>🔥 BAJÓ DE PRECIO 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0000" y="1600000"/>
            <a:ext cx="92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8FAFC"/>
                </a:solidFill>
                <a:latin typeface="Arial"/>
              </a:defRPr>
            </a:pPr>
            <a:r>
              <a:t>[NOMBRE DEL PRODUCTO]</a:t>
            </a:r>
          </a:p>
        </p:txBody>
      </p:sp>
      <p:sp>
        <p:nvSpPr>
          <p:cNvPr id="4" name="Rectangle 3"/>
          <p:cNvSpPr/>
          <p:nvPr/>
        </p:nvSpPr>
        <p:spPr>
          <a:xfrm>
            <a:off x="2000000" y="2600000"/>
            <a:ext cx="6200000" cy="3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3200000"/>
            <a:ext cx="9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Arial"/>
              </a:defRPr>
            </a:pPr>
            <a:r>
              <a:t>ANTES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0000" y="3600000"/>
            <a:ext cx="92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94A3B8"/>
                </a:solidFill>
                <a:latin typeface="Arial"/>
              </a:defRPr>
            </a:pPr>
            <a:r>
              <a:t>$XX.XXX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000" y="4400000"/>
            <a:ext cx="92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EF4444"/>
                </a:solidFill>
                <a:latin typeface="Arial"/>
              </a:defRPr>
            </a:pPr>
            <a:r>
              <a:t>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5000000"/>
            <a:ext cx="9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2C55E"/>
                </a:solidFill>
                <a:latin typeface="Arial"/>
              </a:defRPr>
            </a:pPr>
            <a:r>
              <a:t>AHORA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0000" y="5400000"/>
            <a:ext cx="92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22C55E"/>
                </a:solidFill>
                <a:latin typeface="Arial"/>
              </a:defRPr>
            </a:pPr>
            <a:r>
              <a:t>$XX.XXX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00000" y="6600000"/>
            <a:ext cx="5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2C55E"/>
                </a:solidFill>
                <a:latin typeface="Arial"/>
              </a:defRPr>
            </a:pPr>
            <a:r>
              <a:t>AHORRA $X.XXX (-XX%)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0000" y="8000000"/>
            <a:ext cx="9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563EB"/>
                </a:solidFill>
                <a:latin typeface="Arial"/>
              </a:defRPr>
            </a:pPr>
            <a:r>
              <a:t>Ver precio → dentalprecios.cl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000" y="9200000"/>
            <a:ext cx="9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Arial"/>
              </a:defRPr>
            </a:pPr>
            <a:r>
              <a:t>dentalprecios.cl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400000"/>
            <a:ext cx="92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2563EB"/>
                </a:solidFill>
                <a:latin typeface="Arial"/>
              </a:defRPr>
            </a:pPr>
            <a:r>
              <a:t>TOP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0000" y="1200000"/>
            <a:ext cx="92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8FAFC"/>
                </a:solidFill>
                <a:latin typeface="Arial"/>
              </a:defRPr>
            </a:pPr>
            <a:r>
              <a:t>[CATEGORÍA] MÁS BARATOS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00" y="1700000"/>
            <a:ext cx="9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Arial"/>
              </a:defRPr>
            </a:pPr>
            <a:r>
              <a:t>Semana del XX al XX de XXXX</a:t>
            </a:r>
          </a:p>
        </p:txBody>
      </p:sp>
      <p:sp>
        <p:nvSpPr>
          <p:cNvPr id="5" name="Rectangle 4"/>
          <p:cNvSpPr/>
          <p:nvPr/>
        </p:nvSpPr>
        <p:spPr>
          <a:xfrm>
            <a:off x="500000" y="2300000"/>
            <a:ext cx="9200000" cy="3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600000"/>
            <a:ext cx="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0000" y="2600000"/>
            <a:ext cx="8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2C55E"/>
                </a:solidFill>
                <a:latin typeface="Arial"/>
              </a:defRPr>
            </a:pPr>
            <a:r>
              <a:t>[Producto] — $XX.XXX en [Proveedor]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3500000"/>
            <a:ext cx="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94A3B8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0000" y="3500000"/>
            <a:ext cx="8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8FAFC"/>
                </a:solidFill>
                <a:latin typeface="Arial"/>
              </a:defRPr>
            </a:pPr>
            <a:r>
              <a:t>[Producto] — $XX.XXX en [Proveedor]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000" y="4400000"/>
            <a:ext cx="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94A3B8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0000" y="4400000"/>
            <a:ext cx="8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8FAFC"/>
                </a:solidFill>
                <a:latin typeface="Arial"/>
              </a:defRPr>
            </a:pPr>
            <a:r>
              <a:t>[Producto] — $XX.XXX en [Proveedor]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000" y="5300000"/>
            <a:ext cx="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94A3B8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0000" y="5300000"/>
            <a:ext cx="8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8FAFC"/>
                </a:solidFill>
                <a:latin typeface="Arial"/>
              </a:defRPr>
            </a:pPr>
            <a:r>
              <a:t>[Producto] — $XX.XXX en [Proveedor]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6200000"/>
            <a:ext cx="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94A3B8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0000" y="6200000"/>
            <a:ext cx="8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8FAFC"/>
                </a:solidFill>
                <a:latin typeface="Arial"/>
              </a:defRPr>
            </a:pPr>
            <a:r>
              <a:t>[Producto] — $XX.XXX en [Proveedor]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0000" y="8200000"/>
            <a:ext cx="9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Arial"/>
              </a:defRPr>
            </a:pPr>
            <a:r>
              <a:t>Precios actualizados diariamente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0000" y="9200000"/>
            <a:ext cx="9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Arial"/>
              </a:defRPr>
            </a:pPr>
            <a:r>
              <a:t>dentalprecios.cl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600000"/>
            <a:ext cx="9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563EB"/>
                </a:solidFill>
                <a:latin typeface="Arial"/>
              </a:defRPr>
            </a:pPr>
            <a:r>
              <a:t>🧠 DATO DENTAL</a:t>
            </a:r>
          </a:p>
        </p:txBody>
      </p:sp>
      <p:sp>
        <p:nvSpPr>
          <p:cNvPr id="3" name="Rectangle 2"/>
          <p:cNvSpPr/>
          <p:nvPr/>
        </p:nvSpPr>
        <p:spPr>
          <a:xfrm>
            <a:off x="3500000" y="1400000"/>
            <a:ext cx="3200000" cy="3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0000" y="2200000"/>
            <a:ext cx="860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8FAFC"/>
                </a:solidFill>
                <a:latin typeface="Arial"/>
              </a:defRPr>
            </a:pPr>
            <a:r>
              <a:t>[Insight principal aquí — texto grande e impactante]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0000" y="5200000"/>
            <a:ext cx="82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Arial"/>
              </a:defRPr>
            </a:pPr>
            <a:r>
              <a:t>[Detalle, contexto o explicación del dato. Puede ser 2-3 líneas de texto en tamaño más pequeño.]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0000" y="7800000"/>
            <a:ext cx="9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Arial"/>
              </a:defRPr>
            </a:pPr>
            <a:r>
              <a:t>Fuente: [referencia]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000" y="9200000"/>
            <a:ext cx="9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Arial"/>
              </a:defRPr>
            </a:pPr>
            <a:r>
              <a:t>dentalprecios.cl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300000"/>
            <a:ext cx="4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563EB"/>
                </a:solidFill>
                <a:latin typeface="Arial"/>
              </a:defRPr>
            </a:pPr>
            <a:r>
              <a:t>[PROVEEDOR A]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0000" y="300000"/>
            <a:ext cx="18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F4444"/>
                </a:solidFill>
                <a:latin typeface="Arial"/>
              </a:defRPr>
            </a:pPr>
            <a:r>
              <a:t>⚡VS⚡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00000" y="300000"/>
            <a:ext cx="4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563EB"/>
                </a:solidFill>
                <a:latin typeface="Arial"/>
              </a:defRPr>
            </a:pPr>
            <a:r>
              <a:t>[PROVEEDOR B]</a:t>
            </a:r>
          </a:p>
        </p:txBody>
      </p:sp>
      <p:sp>
        <p:nvSpPr>
          <p:cNvPr id="5" name="Rectangle 4"/>
          <p:cNvSpPr/>
          <p:nvPr/>
        </p:nvSpPr>
        <p:spPr>
          <a:xfrm>
            <a:off x="500000" y="1200000"/>
            <a:ext cx="9200000" cy="3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0000" y="1500000"/>
            <a:ext cx="9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Arial"/>
              </a:defRPr>
            </a:pPr>
            <a:r>
              <a:t>[Producto 1]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000" y="1900000"/>
            <a:ext cx="4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8FAFC"/>
                </a:solidFill>
                <a:latin typeface="Arial"/>
              </a:defRPr>
            </a:pPr>
            <a:r>
              <a:t>$XX.XXX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0000" y="1900000"/>
            <a:ext cx="4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2C55E"/>
                </a:solidFill>
                <a:latin typeface="Arial"/>
              </a:defRPr>
            </a:pPr>
            <a:r>
              <a:t>$XX.XXX 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0000" y="2700000"/>
            <a:ext cx="9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Arial"/>
              </a:defRPr>
            </a:pPr>
            <a:r>
              <a:t>[Producto 2]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0000" y="3100000"/>
            <a:ext cx="4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2C55E"/>
                </a:solidFill>
                <a:latin typeface="Arial"/>
              </a:defRPr>
            </a:pPr>
            <a:r>
              <a:t>$XX.XXX 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0000" y="3100000"/>
            <a:ext cx="4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8FAFC"/>
                </a:solidFill>
                <a:latin typeface="Arial"/>
              </a:defRPr>
            </a:pPr>
            <a:r>
              <a:t>$XX.XXX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000" y="3900000"/>
            <a:ext cx="9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Arial"/>
              </a:defRPr>
            </a:pPr>
            <a:r>
              <a:t>[Producto 3]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0000" y="4300000"/>
            <a:ext cx="4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8FAFC"/>
                </a:solidFill>
                <a:latin typeface="Arial"/>
              </a:defRPr>
            </a:pPr>
            <a:r>
              <a:t>$XX.XXX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0000" y="4300000"/>
            <a:ext cx="4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2C55E"/>
                </a:solidFill>
                <a:latin typeface="Arial"/>
              </a:defRPr>
            </a:pPr>
            <a:r>
              <a:t>$XX.XXX 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000" y="5100000"/>
            <a:ext cx="9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Arial"/>
              </a:defRPr>
            </a:pPr>
            <a:r>
              <a:t>[Producto 4]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0000" y="5500000"/>
            <a:ext cx="4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2C55E"/>
                </a:solidFill>
                <a:latin typeface="Arial"/>
              </a:defRPr>
            </a:pPr>
            <a:r>
              <a:t>$XX.XXX 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0000" y="5500000"/>
            <a:ext cx="4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8FAFC"/>
                </a:solidFill>
                <a:latin typeface="Arial"/>
              </a:defRPr>
            </a:pPr>
            <a:r>
              <a:t>$XX.XXX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7000000"/>
            <a:ext cx="9200000" cy="3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7300000"/>
            <a:ext cx="9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  <a:latin typeface="Arial"/>
              </a:defRPr>
            </a:pPr>
            <a:r>
              <a:t>Ganador: Depende de qué compres 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0000" y="8200000"/>
            <a:ext cx="9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563EB"/>
                </a:solidFill>
                <a:latin typeface="Arial"/>
              </a:defRPr>
            </a:pPr>
            <a:r>
              <a:t>Compara todo → dentalprecios.cl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0000" y="9200000"/>
            <a:ext cx="9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Arial"/>
              </a:defRPr>
            </a:pPr>
            <a:r>
              <a:t>dentalprecios.cl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1500000"/>
            <a:ext cx="92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>
                <a:solidFill>
                  <a:srgbClr val="2563EB"/>
                </a:solidFill>
                <a:latin typeface="Arial"/>
              </a:defRPr>
            </a:pPr>
            <a:r>
              <a:t>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0000" y="3000000"/>
            <a:ext cx="820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8FAFC"/>
                </a:solidFill>
                <a:latin typeface="Arial"/>
              </a:defRPr>
            </a:pPr>
            <a:r>
              <a:t>[TEXTO PRINCIPAL GRANDE]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00" y="5500000"/>
            <a:ext cx="92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>
                <a:solidFill>
                  <a:srgbClr val="2563EB"/>
                </a:solidFill>
                <a:latin typeface="Arial"/>
              </a:defRPr>
            </a:pPr>
            <a:r>
              <a:t>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0000" y="6800000"/>
            <a:ext cx="82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Arial"/>
              </a:defRPr>
            </a:pPr>
            <a:r>
              <a:t>[Remate / punchline]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0000" y="9200000"/>
            <a:ext cx="9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Arial"/>
              </a:defRPr>
            </a:pPr>
            <a:r>
              <a:t>dentalprecios.cl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